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90" r:id="rId4"/>
    <p:sldId id="259" r:id="rId5"/>
    <p:sldId id="291" r:id="rId6"/>
    <p:sldId id="287" r:id="rId7"/>
    <p:sldId id="288" r:id="rId8"/>
    <p:sldId id="278" r:id="rId9"/>
    <p:sldId id="273" r:id="rId10"/>
    <p:sldId id="262" r:id="rId11"/>
    <p:sldId id="293" r:id="rId12"/>
    <p:sldId id="294" r:id="rId13"/>
    <p:sldId id="292" r:id="rId14"/>
    <p:sldId id="279" r:id="rId15"/>
    <p:sldId id="284" r:id="rId16"/>
    <p:sldId id="280" r:id="rId17"/>
    <p:sldId id="277"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F7B9A99-4EAF-67DA-DB73-8B7877971FB6}"/>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F3536C2-04C0-B30B-C2AD-5D42BD33A7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ECD5BF69-D724-A2D1-F6BF-AC8F3462C5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308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126CE419-039D-5637-49CE-98A22F02A479}"/>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60AC8E09-B0BF-0A17-33A8-FA6027B09A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9BD97CAA-14B7-9022-DB24-1B5BC8A0CB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9040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132DEDC-725A-BF28-F81C-AA85A56F25AB}"/>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58C2B846-6C7F-2A38-8DA0-B7E723BBB5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C1348D1F-A481-2D7B-C8E9-C10147EAB8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3164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3D72373-8EE7-5E7A-77FB-F23E6099C681}"/>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129AFB44-3D7C-E6AB-D0CB-4DDC174E97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FEA8C051-F803-0932-A101-AB2D3CD85B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9673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CF2F4CB6-A6D7-5941-DB38-C54D81E82A4E}"/>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9AADE961-438A-4709-6945-BE14CD9DEC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6F067BAA-123D-E672-A108-EFBA5858EA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52794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2247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drive.google.com/file/d/1sySEGjsr_5IZQQjDzbIVQ8a56XJmtD6K/view?usp=sharing" TargetMode="Externa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www.pib.gov.in/PressReleasePage.aspx?PRID=2146756&amp;reg=3&amp;lang=2"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isaaa.org/resources/publications/briefs/26/default.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CharanBS2004/GreenEye"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github.com/CharanBS2004/GreenEye/blob/main/augmented_Bacterial%20Blight0722.jpg"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sciencedirect.com/science/article/abs/pii/S016816992200792X"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www.mdpi.com/1424-8220/23/8/4127" TargetMode="External"/><Relationship Id="rId4" Type="http://schemas.openxmlformats.org/officeDocument/2006/relationships/hyperlink" Target="https://www.frontiersin.org/journals/plant-science/articles/10.3389/fpls.2024.1445418/full"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a:t>
            </a:r>
            <a:r>
              <a:rPr lang="en-US" dirty="0" err="1"/>
              <a:t>LangFlow</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endParaRPr lang="en-US" b="1" i="1" dirty="0"/>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1773731" y="883582"/>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dirty="0" err="1">
                <a:solidFill>
                  <a:srgbClr val="1F3864"/>
                </a:solidFill>
                <a:latin typeface="Times New Roman"/>
                <a:ea typeface="Times New Roman"/>
                <a:cs typeface="Times New Roman"/>
                <a:sym typeface="Times New Roman"/>
              </a:rPr>
              <a:t>GreenEye</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1711392" y="125058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751497777"/>
              </p:ext>
            </p:extLst>
          </p:nvPr>
        </p:nvGraphicFramePr>
        <p:xfrm>
          <a:off x="1596852" y="1942025"/>
          <a:ext cx="7230400" cy="4118535"/>
        </p:xfrm>
        <a:graphic>
          <a:graphicData uri="http://schemas.openxmlformats.org/drawingml/2006/table">
            <a:tbl>
              <a:tblPr>
                <a:noFill/>
                <a:tableStyleId>{0AAD8F4D-43EB-41E5-8A38-28AB6DFB1B60}</a:tableStyleId>
              </a:tblPr>
              <a:tblGrid>
                <a:gridCol w="1589125">
                  <a:extLst>
                    <a:ext uri="{9D8B030D-6E8A-4147-A177-3AD203B41FA5}">
                      <a16:colId xmlns:a16="http://schemas.microsoft.com/office/drawing/2014/main" val="20000"/>
                    </a:ext>
                  </a:extLst>
                </a:gridCol>
                <a:gridCol w="1880425">
                  <a:extLst>
                    <a:ext uri="{9D8B030D-6E8A-4147-A177-3AD203B41FA5}">
                      <a16:colId xmlns:a16="http://schemas.microsoft.com/office/drawing/2014/main" val="20002"/>
                    </a:ext>
                  </a:extLst>
                </a:gridCol>
                <a:gridCol w="1880425">
                  <a:extLst>
                    <a:ext uri="{9D8B030D-6E8A-4147-A177-3AD203B41FA5}">
                      <a16:colId xmlns:a16="http://schemas.microsoft.com/office/drawing/2014/main" val="20003"/>
                    </a:ext>
                  </a:extLst>
                </a:gridCol>
                <a:gridCol w="1880425">
                  <a:extLst>
                    <a:ext uri="{9D8B030D-6E8A-4147-A177-3AD203B41FA5}">
                      <a16:colId xmlns:a16="http://schemas.microsoft.com/office/drawing/2014/main" val="20004"/>
                    </a:ext>
                  </a:extLst>
                </a:gridCol>
              </a:tblGrid>
              <a:tr h="791500">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970950">
                <a:tc>
                  <a:txBody>
                    <a:bodyPr/>
                    <a:lstStyle/>
                    <a:p>
                      <a:pPr marL="0" marR="0" lvl="0" indent="0" algn="l" rtl="0">
                        <a:spcBef>
                          <a:spcPts val="0"/>
                        </a:spcBef>
                        <a:spcAft>
                          <a:spcPts val="0"/>
                        </a:spcAft>
                        <a:buNone/>
                      </a:pPr>
                      <a:r>
                        <a:rPr lang="en-IN" dirty="0"/>
                        <a:t>Akhil M Jain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akhilmjain.mca25@bmsce.ac.in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8618383345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262225">
                <a:tc>
                  <a:txBody>
                    <a:bodyPr/>
                    <a:lstStyle/>
                    <a:p>
                      <a:pPr marL="0" marR="0" lvl="0" indent="0" algn="l" rtl="0">
                        <a:spcBef>
                          <a:spcPts val="0"/>
                        </a:spcBef>
                        <a:spcAft>
                          <a:spcPts val="0"/>
                        </a:spcAft>
                        <a:buNone/>
                      </a:pPr>
                      <a:r>
                        <a:rPr lang="en-IN" dirty="0"/>
                        <a:t>Charan B 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dirty="0"/>
                        <a:t>charanbs.mca25@bmsce.ac.in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dirty="0"/>
                        <a:t>8050771507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970950">
                <a:tc>
                  <a:txBody>
                    <a:bodyPr/>
                    <a:lstStyle/>
                    <a:p>
                      <a:pPr marL="0" marR="0" lvl="0" indent="0" algn="l" rtl="0">
                        <a:spcBef>
                          <a:spcPts val="0"/>
                        </a:spcBef>
                        <a:spcAft>
                          <a:spcPts val="0"/>
                        </a:spcAft>
                        <a:buNone/>
                      </a:pPr>
                      <a:r>
                        <a:rPr lang="en-IN" sz="1400" dirty="0" err="1"/>
                        <a:t>Debojyoti</a:t>
                      </a:r>
                      <a:endParaRPr lang="en-IN" sz="1400" dirty="0"/>
                    </a:p>
                    <a:p>
                      <a:pPr marL="0" marR="0" lvl="0" indent="0" algn="l" rtl="0">
                        <a:spcBef>
                          <a:spcPts val="0"/>
                        </a:spcBef>
                        <a:spcAft>
                          <a:spcPts val="0"/>
                        </a:spcAft>
                        <a:buNone/>
                      </a:pPr>
                      <a:r>
                        <a:rPr lang="en-IN" sz="1400" dirty="0"/>
                        <a:t>Bhattacharjee</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400" dirty="0"/>
                        <a:t>debojyoti.mca25@bmsce.ac.in</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400" dirty="0"/>
                        <a:t>9475145988</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5" name="Picture 4">
            <a:extLst>
              <a:ext uri="{FF2B5EF4-FFF2-40B4-BE49-F238E27FC236}">
                <a16:creationId xmlns:a16="http://schemas.microsoft.com/office/drawing/2014/main" id="{E688AF7A-2920-B426-3651-D99E9A814BE6}"/>
              </a:ext>
            </a:extLst>
          </p:cNvPr>
          <p:cNvPicPr>
            <a:picLocks noChangeAspect="1"/>
          </p:cNvPicPr>
          <p:nvPr/>
        </p:nvPicPr>
        <p:blipFill>
          <a:blip r:embed="rId4"/>
          <a:stretch>
            <a:fillRect/>
          </a:stretch>
        </p:blipFill>
        <p:spPr>
          <a:xfrm>
            <a:off x="3724555" y="2907223"/>
            <a:ext cx="693924" cy="892188"/>
          </a:xfrm>
          <a:prstGeom prst="rect">
            <a:avLst/>
          </a:prstGeom>
        </p:spPr>
      </p:pic>
      <p:pic>
        <p:nvPicPr>
          <p:cNvPr id="7" name="Picture 6">
            <a:extLst>
              <a:ext uri="{FF2B5EF4-FFF2-40B4-BE49-F238E27FC236}">
                <a16:creationId xmlns:a16="http://schemas.microsoft.com/office/drawing/2014/main" id="{607BE38A-1163-A28F-53D9-DA077F004B22}"/>
              </a:ext>
            </a:extLst>
          </p:cNvPr>
          <p:cNvPicPr>
            <a:picLocks noChangeAspect="1"/>
          </p:cNvPicPr>
          <p:nvPr/>
        </p:nvPicPr>
        <p:blipFill>
          <a:blip r:embed="rId5"/>
          <a:stretch>
            <a:fillRect/>
          </a:stretch>
        </p:blipFill>
        <p:spPr>
          <a:xfrm>
            <a:off x="3628582" y="3900737"/>
            <a:ext cx="885869" cy="1111177"/>
          </a:xfrm>
          <a:prstGeom prst="rect">
            <a:avLst/>
          </a:prstGeom>
        </p:spPr>
      </p:pic>
      <p:pic>
        <p:nvPicPr>
          <p:cNvPr id="9" name="Picture 8">
            <a:extLst>
              <a:ext uri="{FF2B5EF4-FFF2-40B4-BE49-F238E27FC236}">
                <a16:creationId xmlns:a16="http://schemas.microsoft.com/office/drawing/2014/main" id="{2D18CEF8-85D9-AB0C-831B-0891A2F1A624}"/>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20000"/>
                    </a14:imgEffect>
                  </a14:imgLayer>
                </a14:imgProps>
              </a:ext>
            </a:extLst>
          </a:blip>
          <a:stretch>
            <a:fillRect/>
          </a:stretch>
        </p:blipFill>
        <p:spPr>
          <a:xfrm>
            <a:off x="3635132" y="5130183"/>
            <a:ext cx="783347" cy="8879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7B4CF8D0-939B-9DA9-430C-8D4E306156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E05FCC-E928-0CFE-177F-C32911514FBD}"/>
              </a:ext>
            </a:extLst>
          </p:cNvPr>
          <p:cNvSpPr txBox="1"/>
          <p:nvPr/>
        </p:nvSpPr>
        <p:spPr>
          <a:xfrm>
            <a:off x="805056" y="1211580"/>
            <a:ext cx="10750450" cy="3477875"/>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The Challenge</a:t>
            </a:r>
            <a:r>
              <a:rPr lang="en-IN"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Pest and disease outbreaks can rapidly impact crop yield if not identified early. Traditional monitoring methods rely on visual inspections and historical experience, which may not capture early risk conditions driven by weather and environmental changes. There is a need for an intelligent system that can analyze environmental and crop data to assess pest and disease risk proactively.</a:t>
            </a: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Environmental &amp; Crop Data Analysis Agent</a:t>
            </a:r>
            <a:r>
              <a:rPr lang="en-IN"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 agent that processes temperature, humidity, rainfall, crop type, and seasonal data into risk assessment summaries.</a:t>
            </a: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Pest &amp; Disease Risk Detection Agent</a:t>
            </a:r>
            <a:r>
              <a:rPr lang="en-IN"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 agent that identifies favorable conditions for pest and disease development using historical patterns and agronomic thresholds.</a:t>
            </a: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Risk Alert &amp; Preventive Advisory Assistant</a:t>
            </a:r>
            <a:r>
              <a:rPr lang="en-IN"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 agent that generates risk alerts and preventive care insights.</a:t>
            </a: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EF16EDA-B0BE-7F59-5A1B-1FC26899D5EA}"/>
              </a:ext>
            </a:extLst>
          </p:cNvPr>
          <p:cNvSpPr txBox="1"/>
          <p:nvPr/>
        </p:nvSpPr>
        <p:spPr>
          <a:xfrm>
            <a:off x="805056" y="44769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panose="02020603050405020304" pitchFamily="18" charset="0"/>
                <a:cs typeface="Times New Roman" panose="02020603050405020304" pitchFamily="18" charset="0"/>
              </a:rPr>
              <a:t>Problem statement </a:t>
            </a:r>
          </a:p>
        </p:txBody>
      </p:sp>
      <p:pic>
        <p:nvPicPr>
          <p:cNvPr id="5" name="Picture 4">
            <a:extLst>
              <a:ext uri="{FF2B5EF4-FFF2-40B4-BE49-F238E27FC236}">
                <a16:creationId xmlns:a16="http://schemas.microsoft.com/office/drawing/2014/main" id="{F769791E-9723-13A7-8113-F4BA9B695A50}"/>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62342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panose="02020603050405020304" pitchFamily="18" charset="0"/>
                <a:cs typeface="Times New Roman" panose="02020603050405020304" pitchFamily="18" charset="0"/>
              </a:rPr>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8" name="Picture 7">
            <a:extLst>
              <a:ext uri="{FF2B5EF4-FFF2-40B4-BE49-F238E27FC236}">
                <a16:creationId xmlns:a16="http://schemas.microsoft.com/office/drawing/2014/main" id="{46E5A035-0181-2A1B-19E1-1B307E726073}"/>
              </a:ext>
            </a:extLst>
          </p:cNvPr>
          <p:cNvPicPr>
            <a:picLocks noChangeAspect="1"/>
          </p:cNvPicPr>
          <p:nvPr/>
        </p:nvPicPr>
        <p:blipFill>
          <a:blip r:embed="rId4"/>
          <a:stretch>
            <a:fillRect/>
          </a:stretch>
        </p:blipFill>
        <p:spPr>
          <a:xfrm>
            <a:off x="1712259" y="1754086"/>
            <a:ext cx="7840242" cy="4435926"/>
          </a:xfrm>
          <a:prstGeom prst="rect">
            <a:avLst/>
          </a:prstGeom>
        </p:spPr>
      </p:pic>
      <p:sp>
        <p:nvSpPr>
          <p:cNvPr id="9" name="TextBox 8">
            <a:extLst>
              <a:ext uri="{FF2B5EF4-FFF2-40B4-BE49-F238E27FC236}">
                <a16:creationId xmlns:a16="http://schemas.microsoft.com/office/drawing/2014/main" id="{03362D63-12FD-816B-1F17-23E7E25AAFD3}"/>
              </a:ext>
            </a:extLst>
          </p:cNvPr>
          <p:cNvSpPr txBox="1"/>
          <p:nvPr/>
        </p:nvSpPr>
        <p:spPr>
          <a:xfrm>
            <a:off x="893255" y="1326776"/>
            <a:ext cx="10524564" cy="310052"/>
          </a:xfrm>
          <a:prstGeom prst="rect">
            <a:avLst/>
          </a:prstGeom>
          <a:noFill/>
        </p:spPr>
        <p:txBody>
          <a:bodyPr wrap="square" rtlCol="0">
            <a:spAutoFit/>
          </a:bodyPr>
          <a:lstStyle/>
          <a:p>
            <a:r>
              <a:rPr lang="en-IN" dirty="0"/>
              <a:t>Demonstration: </a:t>
            </a:r>
            <a:r>
              <a:rPr lang="en-IN" dirty="0">
                <a:hlinkClick r:id="rId5"/>
              </a:rPr>
              <a:t>https://drive.google.com/file/d/1sySEGjsr_5IZQQjDzbIVQ8a56XJmtD6K/view?usp=sharing</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77693883-B82F-B1EE-B48B-2166DC6DAF8A}"/>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00F80F3F-75B0-BD33-E0D4-3340514BEC5E}"/>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3CE11013-5E5C-2842-DADC-091F0A3B171C}"/>
              </a:ext>
            </a:extLst>
          </p:cNvPr>
          <p:cNvSpPr txBox="1"/>
          <p:nvPr/>
        </p:nvSpPr>
        <p:spPr>
          <a:xfrm>
            <a:off x="893254" y="545317"/>
            <a:ext cx="10303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panose="02020603050405020304" pitchFamily="18" charset="0"/>
                <a:cs typeface="Times New Roman" panose="02020603050405020304" pitchFamily="18" charset="0"/>
              </a:rPr>
              <a:t>Proposed solution  - What our pre-trained model YOLO Does? </a:t>
            </a:r>
          </a:p>
        </p:txBody>
      </p:sp>
      <p:pic>
        <p:nvPicPr>
          <p:cNvPr id="5" name="Picture 4">
            <a:extLst>
              <a:ext uri="{FF2B5EF4-FFF2-40B4-BE49-F238E27FC236}">
                <a16:creationId xmlns:a16="http://schemas.microsoft.com/office/drawing/2014/main" id="{33751E69-A07A-86D3-A190-D61845EB8BCB}"/>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7" name="Picture 6">
            <a:extLst>
              <a:ext uri="{FF2B5EF4-FFF2-40B4-BE49-F238E27FC236}">
                <a16:creationId xmlns:a16="http://schemas.microsoft.com/office/drawing/2014/main" id="{9904C7B7-A5D7-A24C-3A20-7E34F7DCD76A}"/>
              </a:ext>
            </a:extLst>
          </p:cNvPr>
          <p:cNvPicPr>
            <a:picLocks noChangeAspect="1"/>
          </p:cNvPicPr>
          <p:nvPr/>
        </p:nvPicPr>
        <p:blipFill>
          <a:blip r:embed="rId4"/>
          <a:stretch>
            <a:fillRect/>
          </a:stretch>
        </p:blipFill>
        <p:spPr>
          <a:xfrm>
            <a:off x="893255" y="1114281"/>
            <a:ext cx="9140512" cy="4025837"/>
          </a:xfrm>
          <a:prstGeom prst="rect">
            <a:avLst/>
          </a:prstGeom>
        </p:spPr>
      </p:pic>
      <p:sp>
        <p:nvSpPr>
          <p:cNvPr id="8" name="TextBox 7">
            <a:extLst>
              <a:ext uri="{FF2B5EF4-FFF2-40B4-BE49-F238E27FC236}">
                <a16:creationId xmlns:a16="http://schemas.microsoft.com/office/drawing/2014/main" id="{EC0C1F65-05B0-B010-D550-CBEBFEF7F470}"/>
              </a:ext>
            </a:extLst>
          </p:cNvPr>
          <p:cNvSpPr txBox="1"/>
          <p:nvPr/>
        </p:nvSpPr>
        <p:spPr>
          <a:xfrm>
            <a:off x="893254" y="5247417"/>
            <a:ext cx="7360024" cy="738664"/>
          </a:xfrm>
          <a:prstGeom prst="rect">
            <a:avLst/>
          </a:prstGeom>
          <a:noFill/>
        </p:spPr>
        <p:txBody>
          <a:bodyPr wrap="square" rtlCol="0">
            <a:spAutoFit/>
          </a:bodyPr>
          <a:lstStyle/>
          <a:p>
            <a:r>
              <a:rPr lang="en-US" b="1" dirty="0"/>
              <a:t>Output to </a:t>
            </a:r>
            <a:r>
              <a:rPr lang="en-US" b="1" dirty="0" err="1"/>
              <a:t>Langflow</a:t>
            </a:r>
            <a:r>
              <a:rPr lang="en-US" b="1" dirty="0"/>
              <a:t>:</a:t>
            </a:r>
          </a:p>
          <a:p>
            <a:endParaRPr lang="en-US" dirty="0"/>
          </a:p>
          <a:p>
            <a:r>
              <a:rPr lang="en-US" dirty="0"/>
              <a:t>JSON: {  “</a:t>
            </a:r>
            <a:r>
              <a:rPr lang="en-US" b="1" dirty="0"/>
              <a:t>PLANT</a:t>
            </a:r>
            <a:r>
              <a:rPr lang="en-US" dirty="0"/>
              <a:t>” : “Cotton”, “</a:t>
            </a:r>
            <a:r>
              <a:rPr lang="en-US" b="1" dirty="0"/>
              <a:t>PREDICTION</a:t>
            </a:r>
            <a:r>
              <a:rPr lang="en-US" dirty="0"/>
              <a:t>” : “Bacterial Blight”, “</a:t>
            </a:r>
            <a:r>
              <a:rPr lang="en-US" b="1" dirty="0"/>
              <a:t>CONFIDENCE</a:t>
            </a:r>
            <a:r>
              <a:rPr lang="en-US" dirty="0"/>
              <a:t>” : 0.99 }</a:t>
            </a:r>
            <a:endParaRPr lang="en-IN" dirty="0"/>
          </a:p>
        </p:txBody>
      </p:sp>
    </p:spTree>
    <p:extLst>
      <p:ext uri="{BB962C8B-B14F-4D97-AF65-F5344CB8AC3E}">
        <p14:creationId xmlns:p14="http://schemas.microsoft.com/office/powerpoint/2010/main" val="2890979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904901" y="1232013"/>
            <a:ext cx="10283052" cy="3785652"/>
          </a:xfrm>
          <a:prstGeom prst="rect">
            <a:avLst/>
          </a:prstGeom>
          <a:noFill/>
        </p:spPr>
        <p:txBody>
          <a:bodyPr wrap="square" rtlCol="0">
            <a:spAutoFit/>
          </a:bodyPr>
          <a:lstStyle/>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SDG 12: Responsible Consumption &amp; Production </a:t>
            </a:r>
            <a:r>
              <a:rPr lang="en-US" sz="2000" dirty="0">
                <a:latin typeface="Times New Roman" panose="02020603050405020304" pitchFamily="18" charset="0"/>
                <a:cs typeface="Times New Roman" panose="02020603050405020304" pitchFamily="18" charset="0"/>
              </a:rPr>
              <a:t>(Target 12.4 - Chemical Management)</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Insect pests alone cost the global industry </a:t>
            </a:r>
            <a:r>
              <a:rPr lang="en-US" sz="2000" b="1" dirty="0">
                <a:latin typeface="Times New Roman" panose="02020603050405020304" pitchFamily="18" charset="0"/>
                <a:cs typeface="Times New Roman" panose="02020603050405020304" pitchFamily="18" charset="0"/>
              </a:rPr>
              <a:t>$5 billion/year</a:t>
            </a:r>
            <a:r>
              <a:rPr lang="en-US" sz="2000" dirty="0">
                <a:latin typeface="Times New Roman" panose="02020603050405020304" pitchFamily="18" charset="0"/>
                <a:cs typeface="Times New Roman" panose="02020603050405020304" pitchFamily="18" charset="0"/>
              </a:rPr>
              <a:t>. We lose </a:t>
            </a:r>
            <a:r>
              <a:rPr lang="en-US" sz="2000" b="1" dirty="0">
                <a:latin typeface="Times New Roman" panose="02020603050405020304" pitchFamily="18" charset="0"/>
                <a:cs typeface="Times New Roman" panose="02020603050405020304" pitchFamily="18" charset="0"/>
              </a:rPr>
              <a:t>1/5th</a:t>
            </a:r>
            <a:r>
              <a:rPr lang="en-US" sz="2000" dirty="0">
                <a:latin typeface="Times New Roman" panose="02020603050405020304" pitchFamily="18" charset="0"/>
                <a:cs typeface="Times New Roman" panose="02020603050405020304" pitchFamily="18" charset="0"/>
              </a:rPr>
              <a:t> of our harvest despite chemical interventions.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India is the world's </a:t>
            </a:r>
            <a:r>
              <a:rPr lang="en-US" sz="2000" b="1" dirty="0">
                <a:latin typeface="Times New Roman" panose="02020603050405020304" pitchFamily="18" charset="0"/>
                <a:cs typeface="Times New Roman" panose="02020603050405020304" pitchFamily="18" charset="0"/>
              </a:rPr>
              <a:t>2nd largest producer</a:t>
            </a:r>
            <a:r>
              <a:rPr lang="en-US" sz="2000" dirty="0">
                <a:latin typeface="Times New Roman" panose="02020603050405020304" pitchFamily="18" charset="0"/>
                <a:cs typeface="Times New Roman" panose="02020603050405020304" pitchFamily="18" charset="0"/>
              </a:rPr>
              <a:t>, yet ranks </a:t>
            </a:r>
            <a:r>
              <a:rPr lang="en-US" sz="2000" b="1" dirty="0">
                <a:latin typeface="Times New Roman" panose="02020603050405020304" pitchFamily="18" charset="0"/>
                <a:cs typeface="Times New Roman" panose="02020603050405020304" pitchFamily="18" charset="0"/>
              </a:rPr>
              <a:t>35th in yield efficiency</a:t>
            </a:r>
            <a:r>
              <a:rPr lang="en-US" sz="2000" dirty="0">
                <a:latin typeface="Times New Roman" panose="02020603050405020304" pitchFamily="18" charset="0"/>
                <a:cs typeface="Times New Roman" panose="02020603050405020304" pitchFamily="18" charset="0"/>
              </a:rPr>
              <a:t>. We have the land, but unmanaged pests / disease are killing our productivity.</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national goal of a </a:t>
            </a:r>
            <a:r>
              <a:rPr lang="en-US" sz="2000" b="1" dirty="0">
                <a:latin typeface="Times New Roman" panose="02020603050405020304" pitchFamily="18" charset="0"/>
                <a:cs typeface="Times New Roman" panose="02020603050405020304" pitchFamily="18" charset="0"/>
              </a:rPr>
              <a:t>$350B textile market</a:t>
            </a:r>
            <a:r>
              <a:rPr lang="en-US" sz="2000" dirty="0">
                <a:latin typeface="Times New Roman" panose="02020603050405020304" pitchFamily="18" charset="0"/>
                <a:cs typeface="Times New Roman" panose="02020603050405020304" pitchFamily="18" charset="0"/>
              </a:rPr>
              <a:t> is endangered by a stagnant </a:t>
            </a:r>
            <a:r>
              <a:rPr lang="en-US" sz="2000" b="1" dirty="0">
                <a:latin typeface="Times New Roman" panose="02020603050405020304" pitchFamily="18" charset="0"/>
                <a:cs typeface="Times New Roman" panose="02020603050405020304" pitchFamily="18" charset="0"/>
              </a:rPr>
              <a:t>0.25% growth rate</a:t>
            </a:r>
            <a:r>
              <a:rPr lang="en-US" sz="2000" dirty="0">
                <a:latin typeface="Times New Roman" panose="02020603050405020304" pitchFamily="18" charset="0"/>
                <a:cs typeface="Times New Roman" panose="02020603050405020304" pitchFamily="18" charset="0"/>
              </a:rPr>
              <a:t>. We cannot reach 2030 targets with 2020 pest control methods.</a:t>
            </a:r>
          </a:p>
          <a:p>
            <a:pPr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References:</a:t>
            </a:r>
          </a:p>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hlinkClick r:id="rId3"/>
              </a:rPr>
              <a:t>Vision 2030 For Textile Industry</a:t>
            </a:r>
            <a:r>
              <a:rPr lang="en-IN" sz="2000" dirty="0">
                <a:latin typeface="Times New Roman" panose="02020603050405020304" pitchFamily="18" charset="0"/>
                <a:cs typeface="Times New Roman" panose="02020603050405020304" pitchFamily="18" charset="0"/>
                <a:hlinkClick r:id="rId3"/>
              </a:rPr>
              <a:t> </a:t>
            </a: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Central Institute for Cotton Research (CICR) and </a:t>
            </a:r>
            <a:r>
              <a:rPr lang="en-IN" sz="2000" dirty="0">
                <a:latin typeface="Times New Roman" panose="02020603050405020304" pitchFamily="18" charset="0"/>
                <a:cs typeface="Times New Roman" panose="02020603050405020304" pitchFamily="18" charset="0"/>
              </a:rPr>
              <a:t>Ministry of Textiles</a:t>
            </a:r>
            <a:endParaRPr lang="en-US" sz="20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hlinkClick r:id="rId4"/>
              </a:rPr>
              <a:t>International Service for the Acquisition of Agri-biotech Applications (ISAAA)</a:t>
            </a:r>
            <a:endParaRPr lang="en-US"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A9D9ED1-DFE2-2CB1-E07B-2D3C44A85C9C}"/>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panose="02020603050405020304" pitchFamily="18" charset="0"/>
                <a:cs typeface="Times New Roman" panose="02020603050405020304" pitchFamily="18" charset="0"/>
              </a:rPr>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5"/>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1273CA-7EF7-F715-EF93-66F231F3ABD1}"/>
              </a:ext>
            </a:extLst>
          </p:cNvPr>
          <p:cNvSpPr txBox="1"/>
          <p:nvPr/>
        </p:nvSpPr>
        <p:spPr>
          <a:xfrm>
            <a:off x="961644" y="1228397"/>
            <a:ext cx="10268712" cy="440120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Cotton Farmer:</a:t>
            </a:r>
            <a:endParaRPr lang="en-US"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Needs real-time detection to save crops immediately, rather than waiting days for a manual expert.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Precise spraying advice helps them save ~20% on unnecessary pesticide costs, directly increasing profit margins.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Affiliated Pesticide Brands: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Capture exclusive market share through direct, data-driven product recommendations embedded instantly in the farmer's diagnosis.</a:t>
            </a:r>
          </a:p>
          <a:p>
            <a:endParaRPr lang="en-US"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Government of India :</a:t>
            </a:r>
            <a:endParaRPr lang="en-US"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Agricultural Extension Officers can track pest spread across districts on a live dashboard to prevent epidemics (like Pink Bollworm).</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Helps the Ministry track actual ground-level progress towards the "Vision 2030" yield targets.</a:t>
            </a: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987C414-2D49-9E5D-A5D6-CF94524B9BE5}"/>
              </a:ext>
            </a:extLst>
          </p:cNvPr>
          <p:cNvSpPr txBox="1"/>
          <p:nvPr/>
        </p:nvSpPr>
        <p:spPr>
          <a:xfrm>
            <a:off x="870204" y="57066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panose="02020603050405020304" pitchFamily="18" charset="0"/>
                <a:cs typeface="Times New Roman" panose="02020603050405020304" pitchFamily="18" charset="0"/>
              </a:rPr>
              <a:t>End user of project</a:t>
            </a: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Technology Used</a:t>
            </a:r>
            <a:endParaRPr lang="en-IN"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626955"/>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Local Python Environment</a:t>
            </a:r>
            <a:r>
              <a:rPr lang="en-US" sz="2400" dirty="0">
                <a:latin typeface="Times New Roman" panose="02020603050405020304" pitchFamily="18" charset="0"/>
                <a:cs typeface="Times New Roman" panose="02020603050405020304" pitchFamily="18" charset="0"/>
              </a:rPr>
              <a:t> (Laptop/PC) to launch the </a:t>
            </a:r>
            <a:r>
              <a:rPr lang="en-US" sz="2400" b="1" dirty="0" err="1">
                <a:latin typeface="Times New Roman" panose="02020603050405020304" pitchFamily="18" charset="0"/>
                <a:cs typeface="Times New Roman" panose="02020603050405020304" pitchFamily="18" charset="0"/>
              </a:rPr>
              <a:t>Tkinter</a:t>
            </a:r>
            <a:r>
              <a:rPr lang="en-US" sz="2400" b="1" dirty="0">
                <a:latin typeface="Times New Roman" panose="02020603050405020304" pitchFamily="18" charset="0"/>
                <a:cs typeface="Times New Roman" panose="02020603050405020304" pitchFamily="18" charset="0"/>
              </a:rPr>
              <a:t> GUI</a:t>
            </a:r>
          </a:p>
          <a:p>
            <a:pPr marL="285750" indent="-285750">
              <a:lnSpc>
                <a:spcPct val="2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Edge Device </a:t>
            </a:r>
            <a:r>
              <a:rPr lang="en-US" sz="2400" dirty="0">
                <a:latin typeface="Times New Roman" panose="02020603050405020304" pitchFamily="18" charset="0"/>
                <a:cs typeface="Times New Roman" panose="02020603050405020304" pitchFamily="18" charset="0"/>
              </a:rPr>
              <a:t>to run the </a:t>
            </a:r>
            <a:r>
              <a:rPr lang="en-US" sz="2400" b="1" dirty="0">
                <a:latin typeface="Times New Roman" panose="02020603050405020304" pitchFamily="18" charset="0"/>
                <a:cs typeface="Times New Roman" panose="02020603050405020304" pitchFamily="18" charset="0"/>
              </a:rPr>
              <a:t>YOLO (</a:t>
            </a:r>
            <a:r>
              <a:rPr lang="en-US" sz="2400" b="1" dirty="0" err="1">
                <a:latin typeface="Times New Roman" panose="02020603050405020304" pitchFamily="18" charset="0"/>
                <a:cs typeface="Times New Roman" panose="02020603050405020304" pitchFamily="18" charset="0"/>
              </a:rPr>
              <a:t>Ultralytics</a:t>
            </a:r>
            <a:r>
              <a:rPr lang="en-US" sz="2400" b="1" dirty="0">
                <a:latin typeface="Times New Roman" panose="02020603050405020304" pitchFamily="18" charset="0"/>
                <a:cs typeface="Times New Roman" panose="02020603050405020304" pitchFamily="18" charset="0"/>
              </a:rPr>
              <a:t>) [Pre-Trained Model]</a:t>
            </a:r>
          </a:p>
          <a:p>
            <a:pPr marL="285750" indent="-285750">
              <a:lnSpc>
                <a:spcPct val="2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IBM Cloud</a:t>
            </a:r>
            <a:r>
              <a:rPr lang="en-IN" sz="2400" dirty="0">
                <a:latin typeface="Times New Roman" panose="02020603050405020304" pitchFamily="18" charset="0"/>
                <a:cs typeface="Times New Roman" panose="02020603050405020304" pitchFamily="18" charset="0"/>
              </a:rPr>
              <a:t> (Code Engine) - </a:t>
            </a:r>
            <a:r>
              <a:rPr lang="en-IN" sz="2400" b="1" dirty="0" err="1">
                <a:latin typeface="Times New Roman" panose="02020603050405020304" pitchFamily="18" charset="0"/>
                <a:cs typeface="Times New Roman" panose="02020603050405020304" pitchFamily="18" charset="0"/>
              </a:rPr>
              <a:t>Langflow</a:t>
            </a:r>
            <a:r>
              <a:rPr lang="en-IN" sz="2400" b="1" dirty="0">
                <a:latin typeface="Times New Roman" panose="02020603050405020304" pitchFamily="18" charset="0"/>
                <a:cs typeface="Times New Roman" panose="02020603050405020304" pitchFamily="18" charset="0"/>
              </a:rPr>
              <a:t> API</a:t>
            </a:r>
          </a:p>
          <a:p>
            <a:pPr marL="285750" indent="-285750">
              <a:lnSpc>
                <a:spcPct val="2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IBM </a:t>
            </a:r>
            <a:r>
              <a:rPr lang="en-IN" sz="2400" b="1" dirty="0" err="1">
                <a:latin typeface="Times New Roman" panose="02020603050405020304" pitchFamily="18" charset="0"/>
                <a:cs typeface="Times New Roman" panose="02020603050405020304" pitchFamily="18" charset="0"/>
              </a:rPr>
              <a:t>WatsonX</a:t>
            </a:r>
            <a:r>
              <a:rPr lang="en-IN" sz="2400" b="1" dirty="0">
                <a:latin typeface="Times New Roman" panose="02020603050405020304" pitchFamily="18" charset="0"/>
                <a:cs typeface="Times New Roman" panose="02020603050405020304" pitchFamily="18" charset="0"/>
              </a:rPr>
              <a:t> / Granite</a:t>
            </a:r>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06426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Novelty and Uniqueness</a:t>
            </a:r>
            <a:endParaRPr sz="35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79" name="Google Shape;279;p18"/>
          <p:cNvSpPr/>
          <p:nvPr/>
        </p:nvSpPr>
        <p:spPr>
          <a:xfrm>
            <a:off x="1064264" y="1583562"/>
            <a:ext cx="9939016" cy="3811398"/>
          </a:xfrm>
          <a:prstGeom prst="rect">
            <a:avLst/>
          </a:prstGeom>
          <a:noFill/>
          <a:ln>
            <a:noFill/>
          </a:ln>
        </p:spPr>
        <p:txBody>
          <a:bodyPr spcFirstLastPara="1" wrap="square" lIns="0" tIns="0" rIns="0" bIns="0" anchor="t" anchorCtr="0">
            <a:noAutofit/>
          </a:bodyPr>
          <a:lstStyle/>
          <a:p>
            <a:pPr marL="285750" lvl="0" indent="-285750">
              <a:lnSpc>
                <a:spcPct val="162162"/>
              </a:lnSpc>
              <a:buClr>
                <a:srgbClr val="2B3541"/>
              </a:buClr>
              <a:buSzPts val="18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Unlike others relying on static CSV spreadsheets, we use </a:t>
            </a:r>
            <a:r>
              <a:rPr lang="en-US" sz="1800" b="1" dirty="0">
                <a:latin typeface="Times New Roman" panose="02020603050405020304" pitchFamily="18" charset="0"/>
                <a:cs typeface="Times New Roman" panose="02020603050405020304" pitchFamily="18" charset="0"/>
              </a:rPr>
              <a:t>Live Computer Vision (YOLO)</a:t>
            </a:r>
            <a:r>
              <a:rPr lang="en-US" sz="1800" dirty="0">
                <a:latin typeface="Times New Roman" panose="02020603050405020304" pitchFamily="18" charset="0"/>
                <a:cs typeface="Times New Roman" panose="02020603050405020304" pitchFamily="18" charset="0"/>
              </a:rPr>
              <a:t> to detect the actual pest in real-time—we also "</a:t>
            </a:r>
            <a:r>
              <a:rPr lang="en-US" sz="1800" b="1" dirty="0">
                <a:latin typeface="Times New Roman" panose="02020603050405020304" pitchFamily="18" charset="0"/>
                <a:cs typeface="Times New Roman" panose="02020603050405020304" pitchFamily="18" charset="0"/>
              </a:rPr>
              <a:t>see</a:t>
            </a:r>
            <a:r>
              <a:rPr lang="en-US" sz="1800" dirty="0">
                <a:latin typeface="Times New Roman" panose="02020603050405020304" pitchFamily="18" charset="0"/>
                <a:cs typeface="Times New Roman" panose="02020603050405020304" pitchFamily="18" charset="0"/>
              </a:rPr>
              <a:t>" the problem, they just calculate it.</a:t>
            </a:r>
          </a:p>
          <a:p>
            <a:pPr marL="285750" lvl="0" indent="-285750">
              <a:lnSpc>
                <a:spcPct val="162162"/>
              </a:lnSpc>
              <a:buClr>
                <a:srgbClr val="2B3541"/>
              </a:buClr>
              <a:buSzPts val="18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 don't just label images; we merge instant </a:t>
            </a:r>
            <a:r>
              <a:rPr lang="en-US" sz="1800" b="1" dirty="0">
                <a:latin typeface="Times New Roman" panose="02020603050405020304" pitchFamily="18" charset="0"/>
                <a:cs typeface="Times New Roman" panose="02020603050405020304" pitchFamily="18" charset="0"/>
              </a:rPr>
              <a:t>offline vision</a:t>
            </a:r>
            <a:r>
              <a:rPr lang="en-US" sz="1800" dirty="0">
                <a:latin typeface="Times New Roman" panose="02020603050405020304" pitchFamily="18" charset="0"/>
                <a:cs typeface="Times New Roman" panose="02020603050405020304" pitchFamily="18" charset="0"/>
              </a:rPr>
              <a:t> with </a:t>
            </a:r>
            <a:r>
              <a:rPr lang="en-US" sz="1800" b="1" dirty="0">
                <a:latin typeface="Times New Roman" panose="02020603050405020304" pitchFamily="18" charset="0"/>
                <a:cs typeface="Times New Roman" panose="02020603050405020304" pitchFamily="18" charset="0"/>
              </a:rPr>
              <a:t>cloud reasoning</a:t>
            </a:r>
          </a:p>
          <a:p>
            <a:pPr marL="285750" lvl="0" indent="-285750">
              <a:lnSpc>
                <a:spcPct val="162162"/>
              </a:lnSpc>
              <a:buClr>
                <a:srgbClr val="2B3541"/>
              </a:buClr>
              <a:buSzPts val="18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 </a:t>
            </a:r>
            <a:r>
              <a:rPr lang="en-US" sz="1800" b="1" dirty="0">
                <a:latin typeface="Times New Roman" panose="02020603050405020304" pitchFamily="18" charset="0"/>
                <a:cs typeface="Times New Roman" panose="02020603050405020304" pitchFamily="18" charset="0"/>
              </a:rPr>
              <a:t>process heavy images locally </a:t>
            </a:r>
            <a:r>
              <a:rPr lang="en-US" sz="1800" dirty="0">
                <a:latin typeface="Times New Roman" panose="02020603050405020304" pitchFamily="18" charset="0"/>
                <a:cs typeface="Times New Roman" panose="02020603050405020304" pitchFamily="18" charset="0"/>
              </a:rPr>
              <a:t>and send only </a:t>
            </a:r>
            <a:r>
              <a:rPr lang="en-US" sz="1800" b="1" dirty="0">
                <a:latin typeface="Times New Roman" panose="02020603050405020304" pitchFamily="18" charset="0"/>
                <a:cs typeface="Times New Roman" panose="02020603050405020304" pitchFamily="18" charset="0"/>
              </a:rPr>
              <a:t>lightweight JSON text</a:t>
            </a:r>
            <a:r>
              <a:rPr lang="en-US" sz="1800" dirty="0">
                <a:latin typeface="Times New Roman" panose="02020603050405020304" pitchFamily="18" charset="0"/>
                <a:cs typeface="Times New Roman" panose="02020603050405020304" pitchFamily="18" charset="0"/>
              </a:rPr>
              <a:t> to the cloud, solving rural connectivity issues while keeping farm data private.</a:t>
            </a:r>
          </a:p>
          <a:p>
            <a:pPr marL="285750" indent="-285750">
              <a:lnSpc>
                <a:spcPct val="162162"/>
              </a:lnSpc>
              <a:buClr>
                <a:srgbClr val="2B3541"/>
              </a:buClr>
              <a:buSzPts val="18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Designed for India's dead zones, our core visual detection works </a:t>
            </a:r>
            <a:r>
              <a:rPr lang="en-US" sz="1800" b="1" dirty="0">
                <a:latin typeface="Times New Roman" panose="02020603050405020304" pitchFamily="18" charset="0"/>
                <a:cs typeface="Times New Roman" panose="02020603050405020304" pitchFamily="18" charset="0"/>
              </a:rPr>
              <a:t>fully offline in &lt;50ms</a:t>
            </a:r>
            <a:r>
              <a:rPr lang="en-US" sz="1800" dirty="0">
                <a:latin typeface="Times New Roman" panose="02020603050405020304" pitchFamily="18" charset="0"/>
                <a:cs typeface="Times New Roman" panose="02020603050405020304" pitchFamily="18" charset="0"/>
              </a:rPr>
              <a:t>, ensuring protection even when the internet fails.</a:t>
            </a:r>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24613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Technical flow diagram - Architecture</a:t>
            </a:r>
            <a:r>
              <a:rPr lang="en-US" sz="24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blueprint</a:t>
            </a:r>
            <a:endParaRPr lang="en-US" sz="2400" b="1" dirty="0">
              <a:solidFill>
                <a:schemeClr val="dk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3199F30D-FC38-9EA0-F332-35DCE6D3CCE6}"/>
              </a:ext>
            </a:extLst>
          </p:cNvPr>
          <p:cNvPicPr>
            <a:picLocks noChangeAspect="1"/>
          </p:cNvPicPr>
          <p:nvPr/>
        </p:nvPicPr>
        <p:blipFill>
          <a:blip r:embed="rId4"/>
          <a:stretch>
            <a:fillRect/>
          </a:stretch>
        </p:blipFill>
        <p:spPr>
          <a:xfrm>
            <a:off x="2316480" y="929257"/>
            <a:ext cx="7093305" cy="47227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8E1F33C3-E8A9-A40B-F152-944E3529454E}"/>
            </a:ext>
          </a:extLst>
        </p:cNvPr>
        <p:cNvGrpSpPr/>
        <p:nvPr/>
      </p:nvGrpSpPr>
      <p:grpSpPr>
        <a:xfrm>
          <a:off x="0" y="0"/>
          <a:ext cx="0" cy="0"/>
          <a:chOff x="0" y="0"/>
          <a:chExt cx="0" cy="0"/>
        </a:xfrm>
      </p:grpSpPr>
      <p:sp>
        <p:nvSpPr>
          <p:cNvPr id="179" name="Google Shape;179;p7">
            <a:extLst>
              <a:ext uri="{FF2B5EF4-FFF2-40B4-BE49-F238E27FC236}">
                <a16:creationId xmlns:a16="http://schemas.microsoft.com/office/drawing/2014/main" id="{102197BC-9FB2-228F-777F-83B0876374A1}"/>
              </a:ext>
            </a:extLst>
          </p:cNvPr>
          <p:cNvSpPr txBox="1"/>
          <p:nvPr/>
        </p:nvSpPr>
        <p:spPr>
          <a:xfrm>
            <a:off x="-24613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Technical flow diagram - Architecture</a:t>
            </a:r>
            <a:r>
              <a:rPr lang="en-US" sz="24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blueprint</a:t>
            </a:r>
            <a:endParaRPr lang="en-US" sz="2400" b="1" dirty="0">
              <a:solidFill>
                <a:schemeClr val="dk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1FFB265-8C1E-215F-D2F1-0BC8107C5BB7}"/>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68CA46D2-72F3-4839-4D7E-8E63E327A1C5}"/>
              </a:ext>
            </a:extLst>
          </p:cNvPr>
          <p:cNvPicPr>
            <a:picLocks noChangeAspect="1"/>
          </p:cNvPicPr>
          <p:nvPr/>
        </p:nvPicPr>
        <p:blipFill>
          <a:blip r:embed="rId4"/>
          <a:stretch>
            <a:fillRect/>
          </a:stretch>
        </p:blipFill>
        <p:spPr>
          <a:xfrm>
            <a:off x="2237610" y="1017027"/>
            <a:ext cx="7218752" cy="4823946"/>
          </a:xfrm>
          <a:prstGeom prst="rect">
            <a:avLst/>
          </a:prstGeom>
        </p:spPr>
      </p:pic>
    </p:spTree>
    <p:extLst>
      <p:ext uri="{BB962C8B-B14F-4D97-AF65-F5344CB8AC3E}">
        <p14:creationId xmlns:p14="http://schemas.microsoft.com/office/powerpoint/2010/main" val="2513964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863F5676-70A3-51B2-FF42-94D7BEB4AC52}"/>
            </a:ext>
          </a:extLst>
        </p:cNvPr>
        <p:cNvGrpSpPr/>
        <p:nvPr/>
      </p:nvGrpSpPr>
      <p:grpSpPr>
        <a:xfrm>
          <a:off x="0" y="0"/>
          <a:ext cx="0" cy="0"/>
          <a:chOff x="0" y="0"/>
          <a:chExt cx="0" cy="0"/>
        </a:xfrm>
      </p:grpSpPr>
      <p:sp>
        <p:nvSpPr>
          <p:cNvPr id="179" name="Google Shape;179;p7">
            <a:extLst>
              <a:ext uri="{FF2B5EF4-FFF2-40B4-BE49-F238E27FC236}">
                <a16:creationId xmlns:a16="http://schemas.microsoft.com/office/drawing/2014/main" id="{B4AEBF8E-4666-1D44-B848-FD4353322192}"/>
              </a:ext>
            </a:extLst>
          </p:cNvPr>
          <p:cNvSpPr txBox="1"/>
          <p:nvPr/>
        </p:nvSpPr>
        <p:spPr>
          <a:xfrm>
            <a:off x="-24613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Technical flow diagram - Architecture</a:t>
            </a:r>
            <a:r>
              <a:rPr lang="en-US" sz="24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blueprint</a:t>
            </a:r>
            <a:endParaRPr lang="en-US" sz="2400" b="1" dirty="0">
              <a:solidFill>
                <a:schemeClr val="dk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5D1781A-A88F-9E36-A419-329FA1EE86E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78138CE5-1AA0-C994-C1F1-C750062AB579}"/>
              </a:ext>
            </a:extLst>
          </p:cNvPr>
          <p:cNvPicPr>
            <a:picLocks noChangeAspect="1"/>
          </p:cNvPicPr>
          <p:nvPr/>
        </p:nvPicPr>
        <p:blipFill>
          <a:blip r:embed="rId4"/>
          <a:stretch>
            <a:fillRect/>
          </a:stretch>
        </p:blipFill>
        <p:spPr>
          <a:xfrm>
            <a:off x="3115012" y="1091231"/>
            <a:ext cx="5961975" cy="4675538"/>
          </a:xfrm>
          <a:prstGeom prst="rect">
            <a:avLst/>
          </a:prstGeom>
        </p:spPr>
      </p:pic>
    </p:spTree>
    <p:extLst>
      <p:ext uri="{BB962C8B-B14F-4D97-AF65-F5344CB8AC3E}">
        <p14:creationId xmlns:p14="http://schemas.microsoft.com/office/powerpoint/2010/main" val="341267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0CDECFA-60E8-32F6-0AB8-1CB94ABA7B08}"/>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30A96149-EEB1-978F-B3A2-01E0D2D5097E}"/>
              </a:ext>
            </a:extLst>
          </p:cNvPr>
          <p:cNvSpPr/>
          <p:nvPr/>
        </p:nvSpPr>
        <p:spPr>
          <a:xfrm>
            <a:off x="621792" y="637622"/>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51D3A"/>
                </a:solidFill>
                <a:latin typeface="Times New Roman" panose="02020603050405020304" pitchFamily="18" charset="0"/>
                <a:ea typeface="Times New Roman"/>
                <a:cs typeface="Times New Roman" panose="02020603050405020304" pitchFamily="18" charset="0"/>
                <a:sym typeface="Times New Roman"/>
              </a:rPr>
              <a:t>Langflow</a:t>
            </a:r>
            <a:r>
              <a:rPr lang="en-US" sz="24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 component Used </a:t>
            </a:r>
            <a:endParaRPr lang="en-US" sz="2400" b="1" i="0" u="none" strike="noStrike" cap="none" dirty="0">
              <a:solidFill>
                <a:srgbClr val="000000"/>
              </a:solidFill>
              <a:latin typeface="Times New Roman" panose="02020603050405020304" pitchFamily="18" charset="0"/>
              <a:ea typeface="Times New Roman"/>
              <a:cs typeface="Times New Roman" panose="02020603050405020304" pitchFamily="18" charset="0"/>
            </a:endParaRPr>
          </a:p>
        </p:txBody>
      </p:sp>
      <p:sp>
        <p:nvSpPr>
          <p:cNvPr id="148" name="Google Shape;148;p5">
            <a:extLst>
              <a:ext uri="{FF2B5EF4-FFF2-40B4-BE49-F238E27FC236}">
                <a16:creationId xmlns:a16="http://schemas.microsoft.com/office/drawing/2014/main" id="{9567B89D-A4FA-B286-5E43-F4C70CF0EE1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86EE77E6-0408-0A53-C4EC-F7417E39FB55}"/>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5279A783-9A80-B0FE-7210-D5A977320657}"/>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CFAFA769-0387-5384-F78C-94F958D8E7DC}"/>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1CB9BCAF-B875-B3B6-7D98-6917D69303F6}"/>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1D63DD9E-1D13-D2A3-CCA4-39A4DA8A8BE9}"/>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3F1C4CCE-E030-759A-14DD-6A0386F67261}"/>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6" name="TextBox 5">
            <a:extLst>
              <a:ext uri="{FF2B5EF4-FFF2-40B4-BE49-F238E27FC236}">
                <a16:creationId xmlns:a16="http://schemas.microsoft.com/office/drawing/2014/main" id="{067D0FBD-34ED-6A5C-ED3A-A8DA305EAEB8}"/>
              </a:ext>
            </a:extLst>
          </p:cNvPr>
          <p:cNvSpPr txBox="1"/>
          <p:nvPr/>
        </p:nvSpPr>
        <p:spPr>
          <a:xfrm>
            <a:off x="621792" y="1341120"/>
            <a:ext cx="10503408" cy="3293209"/>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Chat Input</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IBM watsonx.ai </a:t>
            </a:r>
          </a:p>
          <a:p>
            <a:pPr marL="285750" indent="-285750">
              <a:buFont typeface="Arial" panose="020B0604020202020204" pitchFamily="34" charset="0"/>
              <a:buChar char="•"/>
            </a:pP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Agent</a:t>
            </a:r>
          </a:p>
          <a:p>
            <a:pPr marL="285750" lvl="5"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Input Agent:</a:t>
            </a:r>
            <a:r>
              <a:rPr lang="en-US" sz="1600" dirty="0">
                <a:latin typeface="Times New Roman" panose="02020603050405020304" pitchFamily="18" charset="0"/>
                <a:cs typeface="Times New Roman" panose="02020603050405020304" pitchFamily="18" charset="0"/>
              </a:rPr>
              <a:t> Acts as the system receptionist, formatting user images and queries into structured data for processing.</a:t>
            </a:r>
          </a:p>
          <a:p>
            <a:pPr marL="285750" lvl="5"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Diagnosis Agent:</a:t>
            </a:r>
            <a:r>
              <a:rPr lang="en-US" sz="1600" dirty="0">
                <a:latin typeface="Times New Roman" panose="02020603050405020304" pitchFamily="18" charset="0"/>
                <a:cs typeface="Times New Roman" panose="02020603050405020304" pitchFamily="18" charset="0"/>
              </a:rPr>
              <a:t> Analyzes visual data using YOLO to instantly identify the specific pest name and confidence level.</a:t>
            </a:r>
          </a:p>
          <a:p>
            <a:pPr marL="285750" lvl="5"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Cause Agent:</a:t>
            </a:r>
            <a:r>
              <a:rPr lang="en-US" sz="1600" dirty="0">
                <a:latin typeface="Times New Roman" panose="02020603050405020304" pitchFamily="18" charset="0"/>
                <a:cs typeface="Times New Roman" panose="02020603050405020304" pitchFamily="18" charset="0"/>
              </a:rPr>
              <a:t> Investigates the root cause by correlating the diagnosis with environmental triggers like humidity or temperature.</a:t>
            </a:r>
          </a:p>
          <a:p>
            <a:pPr marL="285750" lvl="5"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Solution Agent:</a:t>
            </a:r>
            <a:r>
              <a:rPr lang="en-US" sz="1600" dirty="0">
                <a:latin typeface="Times New Roman" panose="02020603050405020304" pitchFamily="18" charset="0"/>
                <a:cs typeface="Times New Roman" panose="02020603050405020304" pitchFamily="18" charset="0"/>
              </a:rPr>
              <a:t> Consults IBM Granite agricultural databases to prescribe specific chemical or organic remedies.</a:t>
            </a:r>
          </a:p>
          <a:p>
            <a:pPr marL="285750" lvl="5"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Response Agent:</a:t>
            </a:r>
            <a:r>
              <a:rPr lang="en-US" sz="1600" dirty="0">
                <a:latin typeface="Times New Roman" panose="02020603050405020304" pitchFamily="18" charset="0"/>
                <a:cs typeface="Times New Roman" panose="02020603050405020304" pitchFamily="18" charset="0"/>
              </a:rPr>
              <a:t> Synthesizes all technical findings into a single, friendly, and easy-to-read report for the farmer.</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Chat Output</a:t>
            </a:r>
          </a:p>
        </p:txBody>
      </p:sp>
    </p:spTree>
    <p:extLst>
      <p:ext uri="{BB962C8B-B14F-4D97-AF65-F5344CB8AC3E}">
        <p14:creationId xmlns:p14="http://schemas.microsoft.com/office/powerpoint/2010/main" val="2700189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3F7913D4-B223-43C7-8068-238F81E51921}"/>
              </a:ext>
            </a:extLst>
          </p:cNvPr>
          <p:cNvPicPr>
            <a:picLocks noChangeAspect="1"/>
          </p:cNvPicPr>
          <p:nvPr/>
        </p:nvPicPr>
        <p:blipFill>
          <a:blip r:embed="rId4"/>
          <a:stretch>
            <a:fillRect/>
          </a:stretch>
        </p:blipFill>
        <p:spPr>
          <a:xfrm>
            <a:off x="246529" y="2621459"/>
            <a:ext cx="11698941" cy="1243012"/>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1065320" y="138955"/>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BA150A0E-DFE6-44FB-E2A0-7740871F7919}"/>
              </a:ext>
            </a:extLst>
          </p:cNvPr>
          <p:cNvPicPr>
            <a:picLocks noChangeAspect="1"/>
          </p:cNvPicPr>
          <p:nvPr/>
        </p:nvPicPr>
        <p:blipFill>
          <a:blip r:embed="rId4"/>
          <a:srcRect t="3370" b="35506"/>
          <a:stretch>
            <a:fillRect/>
          </a:stretch>
        </p:blipFill>
        <p:spPr>
          <a:xfrm>
            <a:off x="84105" y="1398494"/>
            <a:ext cx="12023789" cy="3523130"/>
          </a:xfrm>
          <a:prstGeom prst="rect">
            <a:avLst/>
          </a:prstGeom>
        </p:spPr>
      </p:pic>
    </p:spTree>
    <p:extLst>
      <p:ext uri="{BB962C8B-B14F-4D97-AF65-F5344CB8AC3E}">
        <p14:creationId xmlns:p14="http://schemas.microsoft.com/office/powerpoint/2010/main" val="795043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1594169"/>
            <a:ext cx="9700288" cy="4412184"/>
          </a:xfrm>
          <a:prstGeom prst="rect">
            <a:avLst/>
          </a:prstGeom>
          <a:noFill/>
          <a:ln>
            <a:noFill/>
          </a:ln>
        </p:spPr>
        <p:txBody>
          <a:bodyPr spcFirstLastPara="1" wrap="square" lIns="0" tIns="0" rIns="0" bIns="0" anchor="t" anchorCtr="0">
            <a:noAutofit/>
          </a:bodyPr>
          <a:lstStyle/>
          <a:p>
            <a:pPr marL="285750" lvl="0" indent="-285750">
              <a:lnSpc>
                <a:spcPct val="162162"/>
              </a:lnSpc>
              <a:buClr>
                <a:srgbClr val="2B3541"/>
              </a:buClr>
              <a:buSzPts val="1850"/>
              <a:buFont typeface="Arial" panose="020B0604020202020204" pitchFamily="34" charset="0"/>
              <a:buChar char="•"/>
            </a:pPr>
            <a:r>
              <a:rPr lang="en-US" sz="1600" b="1" dirty="0">
                <a:solidFill>
                  <a:srgbClr val="2B3541"/>
                </a:solidFill>
                <a:latin typeface="Times New Roman"/>
                <a:ea typeface="Times New Roman"/>
                <a:cs typeface="Times New Roman"/>
                <a:sym typeface="Times New Roman"/>
              </a:rPr>
              <a:t>Multilingual Voice Interface</a:t>
            </a:r>
            <a:r>
              <a:rPr lang="en-US" sz="1600" dirty="0">
                <a:solidFill>
                  <a:srgbClr val="2B3541"/>
                </a:solidFill>
                <a:latin typeface="Times New Roman"/>
                <a:ea typeface="Times New Roman"/>
                <a:cs typeface="Times New Roman"/>
                <a:sym typeface="Times New Roman"/>
              </a:rPr>
              <a:t>: Enables farmers to interact verbally with the AI assistant in local dialects like Hindi, Kannada, and Marathi.</a:t>
            </a:r>
          </a:p>
          <a:p>
            <a:pPr marL="285750" lvl="0" indent="-285750">
              <a:lnSpc>
                <a:spcPct val="162162"/>
              </a:lnSpc>
              <a:buClr>
                <a:srgbClr val="2B3541"/>
              </a:buClr>
              <a:buSzPts val="1850"/>
              <a:buFont typeface="Arial" panose="020B0604020202020204" pitchFamily="34" charset="0"/>
              <a:buChar char="•"/>
            </a:pPr>
            <a:r>
              <a:rPr lang="en-US" sz="1600" b="1" dirty="0">
                <a:solidFill>
                  <a:srgbClr val="2B3541"/>
                </a:solidFill>
                <a:latin typeface="Times New Roman"/>
                <a:ea typeface="Times New Roman"/>
                <a:cs typeface="Times New Roman"/>
                <a:sym typeface="Times New Roman"/>
              </a:rPr>
              <a:t>IoT-Driven Prediction</a:t>
            </a:r>
            <a:r>
              <a:rPr lang="en-US" sz="1600" dirty="0">
                <a:solidFill>
                  <a:srgbClr val="2B3541"/>
                </a:solidFill>
                <a:latin typeface="Times New Roman"/>
                <a:ea typeface="Times New Roman"/>
                <a:cs typeface="Times New Roman"/>
                <a:sym typeface="Times New Roman"/>
              </a:rPr>
              <a:t>: Integrates soil and weather sensors to correlate environmental data with pest outbreaks for precise forecasting.</a:t>
            </a:r>
          </a:p>
          <a:p>
            <a:pPr marL="285750" lvl="0" indent="-285750">
              <a:lnSpc>
                <a:spcPct val="162162"/>
              </a:lnSpc>
              <a:buClr>
                <a:srgbClr val="2B3541"/>
              </a:buClr>
              <a:buSzPts val="1850"/>
              <a:buFont typeface="Arial" panose="020B0604020202020204" pitchFamily="34" charset="0"/>
              <a:buChar char="•"/>
            </a:pPr>
            <a:r>
              <a:rPr lang="en-US" sz="1600" b="1" dirty="0">
                <a:solidFill>
                  <a:srgbClr val="2B3541"/>
                </a:solidFill>
                <a:latin typeface="Times New Roman"/>
                <a:ea typeface="Times New Roman"/>
                <a:cs typeface="Times New Roman"/>
                <a:sym typeface="Times New Roman"/>
              </a:rPr>
              <a:t>Automated Precision Spraying</a:t>
            </a:r>
            <a:r>
              <a:rPr lang="en-US" sz="1600" dirty="0">
                <a:solidFill>
                  <a:srgbClr val="2B3541"/>
                </a:solidFill>
                <a:latin typeface="Times New Roman"/>
                <a:ea typeface="Times New Roman"/>
                <a:cs typeface="Times New Roman"/>
                <a:sym typeface="Times New Roman"/>
              </a:rPr>
              <a:t>: Connects to smart sprayers to target only infected plants, reducing chemical usage by 40%.</a:t>
            </a:r>
          </a:p>
          <a:p>
            <a:pPr marL="285750" lvl="0" indent="-285750">
              <a:lnSpc>
                <a:spcPct val="162162"/>
              </a:lnSpc>
              <a:buClr>
                <a:srgbClr val="2B3541"/>
              </a:buClr>
              <a:buSzPts val="1850"/>
              <a:buFont typeface="Arial" panose="020B0604020202020204" pitchFamily="34" charset="0"/>
              <a:buChar char="•"/>
            </a:pPr>
            <a:r>
              <a:rPr lang="en-US" sz="1600" b="1" dirty="0">
                <a:solidFill>
                  <a:srgbClr val="2B3541"/>
                </a:solidFill>
                <a:latin typeface="Times New Roman"/>
                <a:ea typeface="Times New Roman"/>
                <a:cs typeface="Times New Roman"/>
                <a:sym typeface="Times New Roman"/>
              </a:rPr>
              <a:t>Live Outbreak Heatmaps</a:t>
            </a:r>
            <a:r>
              <a:rPr lang="en-US" sz="1600" dirty="0">
                <a:solidFill>
                  <a:srgbClr val="2B3541"/>
                </a:solidFill>
                <a:latin typeface="Times New Roman"/>
                <a:ea typeface="Times New Roman"/>
                <a:cs typeface="Times New Roman"/>
                <a:sym typeface="Times New Roman"/>
              </a:rPr>
              <a:t>: Aggregates anonymous user data to generate district-level infection maps for government early warning systems.</a:t>
            </a: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345224"/>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IN" sz="1850" b="1" i="0" u="none" strike="noStrike" cap="none" dirty="0" err="1">
                <a:solidFill>
                  <a:srgbClr val="000000"/>
                </a:solidFill>
                <a:latin typeface="Times New Roman"/>
                <a:ea typeface="Times New Roman"/>
                <a:cs typeface="Times New Roman"/>
                <a:sym typeface="Times New Roman"/>
              </a:rPr>
              <a:t>Github</a:t>
            </a:r>
            <a:r>
              <a:rPr lang="en-IN" sz="1850" b="1" i="0" u="none" strike="noStrike" cap="none" dirty="0">
                <a:solidFill>
                  <a:srgbClr val="000000"/>
                </a:solidFill>
                <a:latin typeface="Times New Roman"/>
                <a:ea typeface="Times New Roman"/>
                <a:cs typeface="Times New Roman"/>
                <a:sym typeface="Times New Roman"/>
              </a:rPr>
              <a:t> Repository Link:</a:t>
            </a:r>
          </a:p>
          <a:p>
            <a:pPr lvl="0">
              <a:lnSpc>
                <a:spcPct val="162162"/>
              </a:lnSpc>
              <a:buClr>
                <a:srgbClr val="2B3541"/>
              </a:buClr>
              <a:buSzPts val="1850"/>
            </a:pPr>
            <a:r>
              <a:rPr lang="en-IN" sz="1850" dirty="0">
                <a:latin typeface="Times New Roman"/>
                <a:ea typeface="Times New Roman"/>
                <a:cs typeface="Times New Roman"/>
                <a:sym typeface="Times New Roman"/>
                <a:hlinkClick r:id="rId3"/>
              </a:rPr>
              <a:t>https://github.com/CharanBS2004/GreenEye</a:t>
            </a:r>
            <a:endParaRPr lang="en-IN" sz="1850" dirty="0">
              <a:latin typeface="Times New Roman"/>
              <a:ea typeface="Times New Roman"/>
              <a:cs typeface="Times New Roman"/>
              <a:sym typeface="Times New Roman"/>
            </a:endParaRPr>
          </a:p>
          <a:p>
            <a:pPr lvl="0">
              <a:lnSpc>
                <a:spcPct val="162162"/>
              </a:lnSpc>
              <a:buClr>
                <a:srgbClr val="2B3541"/>
              </a:buClr>
              <a:buSzPts val="1850"/>
            </a:pPr>
            <a:r>
              <a:rPr lang="en-IN" sz="1850" b="1" dirty="0">
                <a:latin typeface="Times New Roman"/>
                <a:ea typeface="Times New Roman"/>
                <a:cs typeface="Times New Roman"/>
                <a:sym typeface="Times New Roman"/>
              </a:rPr>
              <a:t>Contains:</a:t>
            </a:r>
          </a:p>
          <a:p>
            <a:pPr marL="342900" lvl="0" indent="-342900">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Problem_Statement.pdf</a:t>
            </a:r>
          </a:p>
          <a:p>
            <a:pPr marL="342900" lvl="0" indent="-342900">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GreenEye.pptx</a:t>
            </a:r>
          </a:p>
          <a:p>
            <a:pPr marL="342900" lvl="0" indent="-342900">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Main.py</a:t>
            </a:r>
          </a:p>
          <a:p>
            <a:pPr marL="342900" lvl="0" indent="-342900">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Best.pt</a:t>
            </a:r>
          </a:p>
          <a:p>
            <a:pPr marL="342900" lvl="0" indent="-342900">
              <a:buClr>
                <a:srgbClr val="2B3541"/>
              </a:buClr>
              <a:buSzPts val="1850"/>
              <a:buFont typeface="Arial" panose="020B0604020202020204" pitchFamily="34" charset="0"/>
              <a:buChar char="•"/>
            </a:pPr>
            <a:r>
              <a:rPr lang="en-IN" sz="1850" b="0" i="0" u="none" strike="noStrike" cap="none" dirty="0">
                <a:solidFill>
                  <a:srgbClr val="000000"/>
                </a:solidFill>
                <a:latin typeface="Times New Roman"/>
                <a:ea typeface="Times New Roman"/>
                <a:cs typeface="Times New Roman"/>
                <a:sym typeface="Times New Roman"/>
              </a:rPr>
              <a:t>Test Image (</a:t>
            </a:r>
            <a:r>
              <a:rPr lang="en-IN" dirty="0" err="1">
                <a:hlinkClick r:id="rId4" tooltip="augmented_Bacterial Blight0722.jpg"/>
              </a:rPr>
              <a:t>augmented_Bacterial</a:t>
            </a:r>
            <a:r>
              <a:rPr lang="en-IN" dirty="0">
                <a:hlinkClick r:id="rId4" tooltip="augmented_Bacterial Blight0722.jpg"/>
              </a:rPr>
              <a:t> Blight0722.jpg</a:t>
            </a:r>
            <a:r>
              <a:rPr lang="en-IN" dirty="0"/>
              <a:t>)</a:t>
            </a:r>
          </a:p>
          <a:p>
            <a:pPr marL="342900" lvl="0" indent="-342900">
              <a:buClr>
                <a:srgbClr val="2B3541"/>
              </a:buClr>
              <a:buSzPts val="1850"/>
              <a:buFont typeface="Arial" panose="020B0604020202020204" pitchFamily="34" charset="0"/>
              <a:buChar char="•"/>
            </a:pPr>
            <a:r>
              <a:rPr lang="en-IN" sz="1850" b="0" i="0" u="none" strike="noStrike" cap="none" dirty="0">
                <a:solidFill>
                  <a:srgbClr val="000000"/>
                </a:solidFill>
                <a:latin typeface="Times New Roman"/>
                <a:ea typeface="Times New Roman"/>
                <a:cs typeface="Times New Roman"/>
                <a:sym typeface="Times New Roman"/>
              </a:rPr>
              <a:t>Readme.md</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5"/>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342900" indent="-342900">
              <a:buAutoNum type="arabicPeriod"/>
            </a:pPr>
            <a:r>
              <a:rPr lang="en-IN" u="sng" dirty="0">
                <a:hlinkClick r:id="rId3"/>
              </a:rPr>
              <a:t>Zhang, </a:t>
            </a:r>
            <a:r>
              <a:rPr lang="en-IN" u="sng" dirty="0" err="1">
                <a:hlinkClick r:id="rId3"/>
              </a:rPr>
              <a:t>Yuanjia</a:t>
            </a:r>
            <a:r>
              <a:rPr lang="en-IN" u="sng" dirty="0">
                <a:hlinkClick r:id="rId3"/>
              </a:rPr>
              <a:t>, et al. "Accurate cotton diseases and pests detection in complex background based on an improved YOLOX model." </a:t>
            </a:r>
            <a:r>
              <a:rPr lang="en-IN" i="1" u="sng" dirty="0">
                <a:hlinkClick r:id="rId3"/>
              </a:rPr>
              <a:t>Computers and Electronics in Agriculture</a:t>
            </a:r>
            <a:r>
              <a:rPr lang="en-IN" u="sng" dirty="0">
                <a:hlinkClick r:id="rId3"/>
              </a:rPr>
              <a:t> 203 (2022): 107484.</a:t>
            </a:r>
            <a:endParaRPr lang="en-IN" u="sng" dirty="0"/>
          </a:p>
          <a:p>
            <a:pPr marL="342900" indent="-342900">
              <a:buAutoNum type="arabicPeriod"/>
            </a:pPr>
            <a:endParaRPr lang="en-IN" dirty="0"/>
          </a:p>
          <a:p>
            <a:pPr marL="342900" indent="-342900">
              <a:buFont typeface="+mj-lt"/>
              <a:buAutoNum type="arabicPeriod"/>
            </a:pPr>
            <a:r>
              <a:rPr lang="en-IN" u="sng" dirty="0">
                <a:hlinkClick r:id="rId4"/>
              </a:rPr>
              <a:t>Zhang, Ting, et al. "Residual </a:t>
            </a:r>
            <a:r>
              <a:rPr lang="en-IN" u="sng" dirty="0" err="1">
                <a:hlinkClick r:id="rId4"/>
              </a:rPr>
              <a:t>swin</a:t>
            </a:r>
            <a:r>
              <a:rPr lang="en-IN" u="sng" dirty="0">
                <a:hlinkClick r:id="rId4"/>
              </a:rPr>
              <a:t> transformer for classifying the types of cotton pests in complex background." </a:t>
            </a:r>
            <a:r>
              <a:rPr lang="en-IN" i="1" u="sng" dirty="0">
                <a:hlinkClick r:id="rId4"/>
              </a:rPr>
              <a:t>Frontiers in Plant Science</a:t>
            </a:r>
            <a:r>
              <a:rPr lang="en-IN" u="sng" dirty="0">
                <a:hlinkClick r:id="rId4"/>
              </a:rPr>
              <a:t> 15 (2024): 1445418.</a:t>
            </a:r>
            <a:endParaRPr lang="en-IN" u="sng" dirty="0"/>
          </a:p>
          <a:p>
            <a:pPr marL="342900" indent="-342900">
              <a:buFont typeface="+mj-lt"/>
              <a:buAutoNum type="arabicPeriod"/>
            </a:pPr>
            <a:endParaRPr lang="en-IN" dirty="0"/>
          </a:p>
          <a:p>
            <a:pPr marL="342900" indent="-342900">
              <a:buFont typeface="+mj-lt"/>
              <a:buAutoNum type="arabicPeriod"/>
            </a:pPr>
            <a:r>
              <a:rPr lang="en-IN" u="sng" dirty="0" err="1">
                <a:hlinkClick r:id="rId5"/>
              </a:rPr>
              <a:t>Kiobia</a:t>
            </a:r>
            <a:r>
              <a:rPr lang="en-IN" u="sng" dirty="0">
                <a:hlinkClick r:id="rId5"/>
              </a:rPr>
              <a:t>, Denis O., et al. "A review of successes and impeding challenges of IoT-based insect pest detection systems for estimating agroecosystem health and productivity of cotton." </a:t>
            </a:r>
            <a:r>
              <a:rPr lang="en-IN" i="1" u="sng" dirty="0">
                <a:hlinkClick r:id="rId5"/>
              </a:rPr>
              <a:t>Sensors</a:t>
            </a:r>
            <a:r>
              <a:rPr lang="en-IN" u="sng" dirty="0">
                <a:hlinkClick r:id="rId5"/>
              </a:rPr>
              <a:t> 23.8 (2023): 4127</a:t>
            </a:r>
            <a:r>
              <a:rPr lang="en-IN" dirty="0"/>
              <a:t>. </a:t>
            </a: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6"/>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1337</TotalTime>
  <Words>1018</Words>
  <Application>Microsoft Office PowerPoint</Application>
  <PresentationFormat>Widescreen</PresentationFormat>
  <Paragraphs>98</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Akhil Jain</cp:lastModifiedBy>
  <cp:revision>121</cp:revision>
  <dcterms:created xsi:type="dcterms:W3CDTF">2025-07-08T05:06:56Z</dcterms:created>
  <dcterms:modified xsi:type="dcterms:W3CDTF">2026-01-28T07:36:55Z</dcterms:modified>
</cp:coreProperties>
</file>